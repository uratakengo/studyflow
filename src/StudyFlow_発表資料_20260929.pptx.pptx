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8"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7" autoAdjust="0"/>
    <p:restoredTop sz="85007" autoAdjust="0"/>
  </p:normalViewPr>
  <p:slideViewPr>
    <p:cSldViewPr snapToGrid="0" snapToObjects="1">
      <p:cViewPr>
        <p:scale>
          <a:sx n="75" d="100"/>
          <a:sy n="75" d="100"/>
        </p:scale>
        <p:origin x="744" y="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417320"/>
            <a:ext cx="10424160" cy="1188720"/>
          </a:xfrm>
          <a:prstGeom prst="rect">
            <a:avLst/>
          </a:prstGeom>
          <a:noFill/>
        </p:spPr>
        <p:txBody>
          <a:bodyPr wrap="none">
            <a:spAutoFit/>
          </a:bodyPr>
          <a:lstStyle/>
          <a:p>
            <a:r>
              <a:rPr sz="4600" b="1">
                <a:solidFill>
                  <a:srgbClr val="1A4376"/>
                </a:solidFill>
                <a:latin typeface="Yu Gothic"/>
              </a:rPr>
              <a:t>StudyFlow</a:t>
            </a:r>
          </a:p>
          <a:p>
            <a:r>
              <a:rPr sz="2400">
                <a:solidFill>
                  <a:srgbClr val="3273DC"/>
                </a:solidFill>
                <a:latin typeface="Yu Gothic"/>
              </a:rPr>
              <a:t>忘却曲線を意識した暗記カード学習アプリ</a:t>
            </a:r>
          </a:p>
          <a:p>
            <a:r>
              <a:rPr sz="1700">
                <a:solidFill>
                  <a:srgbClr val="697C8F"/>
                </a:solidFill>
                <a:latin typeface="Yu Gothic"/>
              </a:rPr>
              <a:t>記憶を、少しずつ確かなものに。</a:t>
            </a:r>
          </a:p>
        </p:txBody>
      </p:sp>
      <p:sp>
        <p:nvSpPr>
          <p:cNvPr id="6" name="Rounded Rectangle 5"/>
          <p:cNvSpPr/>
          <p:nvPr/>
        </p:nvSpPr>
        <p:spPr>
          <a:xfrm>
            <a:off x="868680" y="3840480"/>
            <a:ext cx="3108960" cy="11430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3840480"/>
            <a:ext cx="64008" cy="1143000"/>
          </a:xfrm>
          <a:prstGeom prst="rect">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4005072"/>
            <a:ext cx="2697479" cy="914400"/>
          </a:xfrm>
          <a:prstGeom prst="rect">
            <a:avLst/>
          </a:prstGeom>
          <a:noFill/>
        </p:spPr>
        <p:txBody>
          <a:bodyPr wrap="none">
            <a:spAutoFit/>
          </a:bodyPr>
          <a:lstStyle/>
          <a:p>
            <a:r>
              <a:rPr sz="1600" b="1">
                <a:solidFill>
                  <a:srgbClr val="1A4376"/>
                </a:solidFill>
                <a:latin typeface="Yu Gothic"/>
              </a:rPr>
              <a:t>Laravel</a:t>
            </a:r>
          </a:p>
          <a:p>
            <a:pPr>
              <a:spcBef>
                <a:spcPts val="500"/>
              </a:spcBef>
              <a:defRPr sz="1100">
                <a:solidFill>
                  <a:srgbClr val="697C8F"/>
                </a:solidFill>
                <a:latin typeface="Yu Gothic"/>
              </a:defRPr>
            </a:pPr>
            <a:r>
              <a:t>カード管理・学習ロジック</a:t>
            </a:r>
          </a:p>
        </p:txBody>
      </p:sp>
      <p:sp>
        <p:nvSpPr>
          <p:cNvPr id="9" name="Rounded Rectangle 8"/>
          <p:cNvSpPr/>
          <p:nvPr/>
        </p:nvSpPr>
        <p:spPr>
          <a:xfrm>
            <a:off x="4160520" y="3840480"/>
            <a:ext cx="3108960" cy="11430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60520" y="3840480"/>
            <a:ext cx="64008" cy="1143000"/>
          </a:xfrm>
          <a:prstGeom prst="rect">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4005072"/>
            <a:ext cx="2697479" cy="914400"/>
          </a:xfrm>
          <a:prstGeom prst="rect">
            <a:avLst/>
          </a:prstGeom>
          <a:noFill/>
        </p:spPr>
        <p:txBody>
          <a:bodyPr wrap="none">
            <a:spAutoFit/>
          </a:bodyPr>
          <a:lstStyle/>
          <a:p>
            <a:r>
              <a:rPr sz="1600" b="1">
                <a:solidFill>
                  <a:srgbClr val="1A4376"/>
                </a:solidFill>
                <a:latin typeface="Yu Gothic"/>
              </a:rPr>
              <a:t>適応型復習</a:t>
            </a:r>
          </a:p>
          <a:p>
            <a:pPr>
              <a:spcBef>
                <a:spcPts val="500"/>
              </a:spcBef>
              <a:defRPr sz="1100">
                <a:solidFill>
                  <a:srgbClr val="697C8F"/>
                </a:solidFill>
                <a:latin typeface="Yu Gothic"/>
              </a:defRPr>
            </a:pPr>
            <a:r>
              <a:t>回答履歴から次回復習日を調整</a:t>
            </a:r>
          </a:p>
        </p:txBody>
      </p:sp>
      <p:sp>
        <p:nvSpPr>
          <p:cNvPr id="12" name="Rounded Rectangle 11"/>
          <p:cNvSpPr/>
          <p:nvPr/>
        </p:nvSpPr>
        <p:spPr>
          <a:xfrm>
            <a:off x="7452360" y="3840480"/>
            <a:ext cx="3108960" cy="11430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52360" y="3840480"/>
            <a:ext cx="64008" cy="1143000"/>
          </a:xfrm>
          <a:prstGeom prst="rect">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0" y="4005072"/>
            <a:ext cx="2697479" cy="914400"/>
          </a:xfrm>
          <a:prstGeom prst="rect">
            <a:avLst/>
          </a:prstGeom>
          <a:noFill/>
        </p:spPr>
        <p:txBody>
          <a:bodyPr wrap="none">
            <a:spAutoFit/>
          </a:bodyPr>
          <a:lstStyle/>
          <a:p>
            <a:r>
              <a:rPr sz="1600" b="1">
                <a:solidFill>
                  <a:srgbClr val="1A4376"/>
                </a:solidFill>
                <a:latin typeface="Yu Gothic"/>
              </a:rPr>
              <a:t>学習データ</a:t>
            </a:r>
          </a:p>
          <a:p>
            <a:pPr>
              <a:spcBef>
                <a:spcPts val="500"/>
              </a:spcBef>
              <a:defRPr sz="1100">
                <a:solidFill>
                  <a:srgbClr val="697C8F"/>
                </a:solidFill>
                <a:latin typeface="Yu Gothic"/>
              </a:defRPr>
            </a:pPr>
            <a:r>
              <a:t>進捗・正答率・グラフ表示</a:t>
            </a:r>
          </a:p>
        </p:txBody>
      </p:sp>
      <p:sp>
        <p:nvSpPr>
          <p:cNvPr id="15" name="TextBox 14"/>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制作背景・目的</a:t>
            </a:r>
          </a:p>
        </p:txBody>
      </p:sp>
      <p:sp>
        <p:nvSpPr>
          <p:cNvPr id="6" name="TextBox 5"/>
          <p:cNvSpPr txBox="1"/>
          <p:nvPr/>
        </p:nvSpPr>
        <p:spPr>
          <a:xfrm>
            <a:off x="713232" y="1033271"/>
            <a:ext cx="10424160" cy="384048"/>
          </a:xfrm>
          <a:prstGeom prst="rect">
            <a:avLst/>
          </a:prstGeom>
          <a:noFill/>
        </p:spPr>
        <p:txBody>
          <a:bodyPr wrap="none">
            <a:spAutoFit/>
          </a:bodyPr>
          <a:lstStyle/>
          <a:p>
            <a:r>
              <a:rPr sz="1200">
                <a:solidFill>
                  <a:srgbClr val="697C8F"/>
                </a:solidFill>
                <a:latin typeface="Yu Gothic"/>
              </a:rPr>
              <a:t>暗記学習の「復習タイミング」をアプリで支援する</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02</a:t>
            </a:r>
          </a:p>
        </p:txBody>
      </p:sp>
      <p:sp>
        <p:nvSpPr>
          <p:cNvPr id="8" name="TextBox 7"/>
          <p:cNvSpPr txBox="1"/>
          <p:nvPr/>
        </p:nvSpPr>
        <p:spPr>
          <a:xfrm>
            <a:off x="822960" y="1645920"/>
            <a:ext cx="5486400" cy="4206240"/>
          </a:xfrm>
          <a:prstGeom prst="rect">
            <a:avLst/>
          </a:prstGeom>
          <a:noFill/>
        </p:spPr>
        <p:txBody>
          <a:bodyPr wrap="square"/>
          <a:lstStyle/>
          <a:p>
            <a:pPr>
              <a:spcAft>
                <a:spcPts val="1100"/>
              </a:spcAft>
              <a:defRPr sz="2000">
                <a:solidFill>
                  <a:srgbClr val="2D3E50"/>
                </a:solidFill>
                <a:latin typeface="Yu Gothic"/>
              </a:defRPr>
            </a:pPr>
            <a:r>
              <a:t>• 暗記は、一度覚えるだけでは時間とともに忘れてしまう</a:t>
            </a:r>
          </a:p>
          <a:p>
            <a:pPr>
              <a:spcAft>
                <a:spcPts val="1100"/>
              </a:spcAft>
              <a:defRPr sz="2000">
                <a:solidFill>
                  <a:srgbClr val="2D3E50"/>
                </a:solidFill>
                <a:latin typeface="Yu Gothic"/>
              </a:defRPr>
            </a:pPr>
            <a:r>
              <a:t>• 復習するタイミングを自分で管理するのは手間がかかる</a:t>
            </a:r>
          </a:p>
          <a:p>
            <a:pPr>
              <a:spcAft>
                <a:spcPts val="1100"/>
              </a:spcAft>
              <a:defRPr sz="2000">
                <a:solidFill>
                  <a:srgbClr val="2D3E50"/>
                </a:solidFill>
                <a:latin typeface="Yu Gothic"/>
              </a:defRPr>
            </a:pPr>
            <a:r>
              <a:t>• カードごとの学習状況に合わせて、必要なカードを自動で提示したい</a:t>
            </a:r>
          </a:p>
          <a:p>
            <a:pPr>
              <a:spcAft>
                <a:spcPts val="1100"/>
              </a:spcAft>
              <a:defRPr sz="2000">
                <a:solidFill>
                  <a:srgbClr val="2D3E50"/>
                </a:solidFill>
                <a:latin typeface="Yu Gothic"/>
              </a:defRPr>
            </a:pPr>
            <a:r>
              <a:t>• シンプルで毎日使いやすい学習画面を目指した</a:t>
            </a:r>
          </a:p>
        </p:txBody>
      </p:sp>
      <p:sp>
        <p:nvSpPr>
          <p:cNvPr id="11" name="TextBox 10"/>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pic>
        <p:nvPicPr>
          <p:cNvPr id="13" name="図 12">
            <a:extLst>
              <a:ext uri="{FF2B5EF4-FFF2-40B4-BE49-F238E27FC236}">
                <a16:creationId xmlns:a16="http://schemas.microsoft.com/office/drawing/2014/main" id="{D38C2906-CA1D-4D2F-834D-6818B4D1E2AB}"/>
              </a:ext>
            </a:extLst>
          </p:cNvPr>
          <p:cNvPicPr>
            <a:picLocks noChangeAspect="1"/>
          </p:cNvPicPr>
          <p:nvPr/>
        </p:nvPicPr>
        <p:blipFill>
          <a:blip r:embed="rId2"/>
          <a:stretch>
            <a:fillRect/>
          </a:stretch>
        </p:blipFill>
        <p:spPr>
          <a:xfrm>
            <a:off x="6471920" y="1645920"/>
            <a:ext cx="5486400" cy="34198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システム概要</a:t>
            </a:r>
          </a:p>
        </p:txBody>
      </p:sp>
      <p:sp>
        <p:nvSpPr>
          <p:cNvPr id="6" name="TextBox 5"/>
          <p:cNvSpPr txBox="1"/>
          <p:nvPr/>
        </p:nvSpPr>
        <p:spPr>
          <a:xfrm>
            <a:off x="713232" y="1033271"/>
            <a:ext cx="5195653" cy="369332"/>
          </a:xfrm>
          <a:prstGeom prst="rect">
            <a:avLst/>
          </a:prstGeom>
          <a:noFill/>
        </p:spPr>
        <p:txBody>
          <a:bodyPr wrap="none">
            <a:spAutoFit/>
          </a:bodyPr>
          <a:lstStyle/>
          <a:p>
            <a:r>
              <a:rPr dirty="0" err="1">
                <a:solidFill>
                  <a:srgbClr val="697C8F"/>
                </a:solidFill>
                <a:latin typeface="Yu Gothic"/>
              </a:rPr>
              <a:t>登録</a:t>
            </a:r>
            <a:r>
              <a:rPr dirty="0">
                <a:solidFill>
                  <a:srgbClr val="697C8F"/>
                </a:solidFill>
                <a:latin typeface="Yu Gothic"/>
              </a:rPr>
              <a:t> → </a:t>
            </a:r>
            <a:r>
              <a:rPr dirty="0" err="1">
                <a:solidFill>
                  <a:srgbClr val="697C8F"/>
                </a:solidFill>
                <a:latin typeface="Yu Gothic"/>
              </a:rPr>
              <a:t>学習</a:t>
            </a:r>
            <a:r>
              <a:rPr dirty="0">
                <a:solidFill>
                  <a:srgbClr val="697C8F"/>
                </a:solidFill>
                <a:latin typeface="Yu Gothic"/>
              </a:rPr>
              <a:t> → </a:t>
            </a:r>
            <a:r>
              <a:rPr dirty="0" err="1">
                <a:solidFill>
                  <a:srgbClr val="697C8F"/>
                </a:solidFill>
                <a:latin typeface="Yu Gothic"/>
              </a:rPr>
              <a:t>復習</a:t>
            </a:r>
            <a:r>
              <a:rPr dirty="0">
                <a:solidFill>
                  <a:srgbClr val="697C8F"/>
                </a:solidFill>
                <a:latin typeface="Yu Gothic"/>
              </a:rPr>
              <a:t> → </a:t>
            </a:r>
            <a:r>
              <a:rPr dirty="0" err="1">
                <a:solidFill>
                  <a:srgbClr val="697C8F"/>
                </a:solidFill>
                <a:latin typeface="Yu Gothic"/>
              </a:rPr>
              <a:t>振り返りを一つの流れに</a:t>
            </a:r>
            <a:endParaRPr dirty="0">
              <a:solidFill>
                <a:srgbClr val="697C8F"/>
              </a:solidFill>
              <a:latin typeface="Yu Gothic"/>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03</a:t>
            </a:r>
          </a:p>
        </p:txBody>
      </p:sp>
      <p:sp>
        <p:nvSpPr>
          <p:cNvPr id="8" name="Rounded Rectangle 7"/>
          <p:cNvSpPr/>
          <p:nvPr/>
        </p:nvSpPr>
        <p:spPr>
          <a:xfrm>
            <a:off x="790575" y="1895475"/>
            <a:ext cx="3190875" cy="161925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0575" y="1895475"/>
            <a:ext cx="66675" cy="1619250"/>
          </a:xfrm>
          <a:prstGeom prst="rect">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0600" y="2076450"/>
            <a:ext cx="2809875" cy="1266825"/>
          </a:xfrm>
          <a:prstGeom prst="rect">
            <a:avLst/>
          </a:prstGeom>
          <a:noFill/>
        </p:spPr>
        <p:txBody>
          <a:bodyPr wrap="square"/>
          <a:lstStyle/>
          <a:p>
            <a:r>
              <a:rPr sz="1900" b="1">
                <a:solidFill>
                  <a:srgbClr val="1A4376"/>
                </a:solidFill>
                <a:latin typeface="Yu Gothic"/>
              </a:rPr>
              <a:t>① カード登録</a:t>
            </a:r>
          </a:p>
          <a:p>
            <a:pPr>
              <a:spcBef>
                <a:spcPts val="500"/>
              </a:spcBef>
              <a:defRPr sz="1400">
                <a:solidFill>
                  <a:srgbClr val="697C8F"/>
                </a:solidFill>
                <a:latin typeface="Yu Gothic"/>
              </a:defRPr>
            </a:pPr>
            <a:r>
              <a:t>問題・解答を登録
Excelからも取り込み</a:t>
            </a:r>
          </a:p>
        </p:txBody>
      </p:sp>
      <p:sp>
        <p:nvSpPr>
          <p:cNvPr id="11" name="Rounded Rectangle 10"/>
          <p:cNvSpPr/>
          <p:nvPr/>
        </p:nvSpPr>
        <p:spPr>
          <a:xfrm>
            <a:off x="4314825" y="1895475"/>
            <a:ext cx="3190875" cy="161925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4825" y="1895475"/>
            <a:ext cx="66675" cy="1619250"/>
          </a:xfrm>
          <a:prstGeom prst="rect">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14850" y="2076450"/>
            <a:ext cx="2809875" cy="1266825"/>
          </a:xfrm>
          <a:prstGeom prst="rect">
            <a:avLst/>
          </a:prstGeom>
          <a:noFill/>
        </p:spPr>
        <p:txBody>
          <a:bodyPr wrap="square"/>
          <a:lstStyle/>
          <a:p>
            <a:r>
              <a:rPr sz="1900" b="1">
                <a:solidFill>
                  <a:srgbClr val="1A4376"/>
                </a:solidFill>
                <a:latin typeface="Yu Gothic"/>
              </a:rPr>
              <a:t>② 今日の学習</a:t>
            </a:r>
          </a:p>
          <a:p>
            <a:pPr>
              <a:spcBef>
                <a:spcPts val="500"/>
              </a:spcBef>
              <a:defRPr sz="1400">
                <a:solidFill>
                  <a:srgbClr val="697C8F"/>
                </a:solidFill>
                <a:latin typeface="Yu Gothic"/>
              </a:defRPr>
            </a:pPr>
            <a:r>
              <a:t>出題されたカードに回答</a:t>
            </a:r>
          </a:p>
        </p:txBody>
      </p:sp>
      <p:sp>
        <p:nvSpPr>
          <p:cNvPr id="14" name="Rounded Rectangle 13"/>
          <p:cNvSpPr/>
          <p:nvPr/>
        </p:nvSpPr>
        <p:spPr>
          <a:xfrm>
            <a:off x="7839075" y="1895475"/>
            <a:ext cx="3190875" cy="161925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39075" y="1895475"/>
            <a:ext cx="66675" cy="1619250"/>
          </a:xfrm>
          <a:prstGeom prst="rect">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39100" y="2076450"/>
            <a:ext cx="2809875" cy="1266825"/>
          </a:xfrm>
          <a:prstGeom prst="rect">
            <a:avLst/>
          </a:prstGeom>
          <a:noFill/>
        </p:spPr>
        <p:txBody>
          <a:bodyPr wrap="square"/>
          <a:lstStyle/>
          <a:p>
            <a:r>
              <a:rPr sz="1900" b="1">
                <a:solidFill>
                  <a:srgbClr val="1A4376"/>
                </a:solidFill>
                <a:latin typeface="Yu Gothic"/>
              </a:rPr>
              <a:t>③ 復習日を計算</a:t>
            </a:r>
          </a:p>
          <a:p>
            <a:pPr>
              <a:spcBef>
                <a:spcPts val="500"/>
              </a:spcBef>
              <a:defRPr sz="1400">
                <a:solidFill>
                  <a:srgbClr val="697C8F"/>
                </a:solidFill>
                <a:latin typeface="Yu Gothic"/>
              </a:defRPr>
            </a:pPr>
            <a:r>
              <a:t>回答結果から次回復習を決定</a:t>
            </a:r>
          </a:p>
        </p:txBody>
      </p:sp>
      <p:sp>
        <p:nvSpPr>
          <p:cNvPr id="17" name="Rounded Rectangle 16"/>
          <p:cNvSpPr/>
          <p:nvPr/>
        </p:nvSpPr>
        <p:spPr>
          <a:xfrm>
            <a:off x="2552700" y="3724275"/>
            <a:ext cx="3190875" cy="161925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52700" y="3724275"/>
            <a:ext cx="66675" cy="1619250"/>
          </a:xfrm>
          <a:prstGeom prst="rect">
            <a:avLst/>
          </a:prstGeom>
          <a:solidFill>
            <a:srgbClr val="F09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52725" y="3905250"/>
            <a:ext cx="2809875" cy="1266825"/>
          </a:xfrm>
          <a:prstGeom prst="rect">
            <a:avLst/>
          </a:prstGeom>
          <a:noFill/>
        </p:spPr>
        <p:txBody>
          <a:bodyPr wrap="square"/>
          <a:lstStyle/>
          <a:p>
            <a:r>
              <a:rPr sz="1900" b="1">
                <a:solidFill>
                  <a:srgbClr val="1A4376"/>
                </a:solidFill>
                <a:latin typeface="Yu Gothic"/>
              </a:rPr>
              <a:t>④ 自動で再出題</a:t>
            </a:r>
          </a:p>
          <a:p>
            <a:pPr>
              <a:spcBef>
                <a:spcPts val="500"/>
              </a:spcBef>
              <a:defRPr sz="1400">
                <a:solidFill>
                  <a:srgbClr val="697C8F"/>
                </a:solidFill>
                <a:latin typeface="Yu Gothic"/>
              </a:defRPr>
            </a:pPr>
            <a:r>
              <a:t>復習日になると学習対象へ</a:t>
            </a:r>
          </a:p>
        </p:txBody>
      </p:sp>
      <p:sp>
        <p:nvSpPr>
          <p:cNvPr id="20" name="Rounded Rectangle 19"/>
          <p:cNvSpPr/>
          <p:nvPr/>
        </p:nvSpPr>
        <p:spPr>
          <a:xfrm>
            <a:off x="6076950" y="3724275"/>
            <a:ext cx="3190875" cy="161925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76950" y="3724275"/>
            <a:ext cx="66675" cy="1619250"/>
          </a:xfrm>
          <a:prstGeom prst="rect">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76975" y="3905250"/>
            <a:ext cx="2809875" cy="1266825"/>
          </a:xfrm>
          <a:prstGeom prst="rect">
            <a:avLst/>
          </a:prstGeom>
          <a:noFill/>
        </p:spPr>
        <p:txBody>
          <a:bodyPr wrap="square"/>
          <a:lstStyle/>
          <a:p>
            <a:r>
              <a:rPr sz="1900" b="1">
                <a:solidFill>
                  <a:srgbClr val="1A4376"/>
                </a:solidFill>
                <a:latin typeface="Yu Gothic"/>
              </a:rPr>
              <a:t>⑤ 学習状況を確認</a:t>
            </a:r>
          </a:p>
          <a:p>
            <a:pPr>
              <a:spcBef>
                <a:spcPts val="500"/>
              </a:spcBef>
              <a:defRPr sz="1400">
                <a:solidFill>
                  <a:srgbClr val="697C8F"/>
                </a:solidFill>
                <a:latin typeface="Yu Gothic"/>
              </a:defRPr>
            </a:pPr>
            <a:r>
              <a:t>正答率・回数・カード状態を表示</a:t>
            </a:r>
          </a:p>
        </p:txBody>
      </p:sp>
      <p:sp>
        <p:nvSpPr>
          <p:cNvPr id="23" name="TextBox 22"/>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カード管理機能</a:t>
            </a:r>
          </a:p>
        </p:txBody>
      </p:sp>
      <p:sp>
        <p:nvSpPr>
          <p:cNvPr id="6" name="TextBox 5"/>
          <p:cNvSpPr txBox="1"/>
          <p:nvPr/>
        </p:nvSpPr>
        <p:spPr>
          <a:xfrm>
            <a:off x="713232" y="1033271"/>
            <a:ext cx="3518912" cy="400110"/>
          </a:xfrm>
          <a:prstGeom prst="rect">
            <a:avLst/>
          </a:prstGeom>
          <a:noFill/>
        </p:spPr>
        <p:txBody>
          <a:bodyPr wrap="none">
            <a:spAutoFit/>
          </a:bodyPr>
          <a:lstStyle/>
          <a:p>
            <a:r>
              <a:rPr sz="2000" dirty="0" err="1">
                <a:solidFill>
                  <a:srgbClr val="697C8F"/>
                </a:solidFill>
                <a:latin typeface="Yu Gothic"/>
              </a:rPr>
              <a:t>学習前のカード整理を効率化</a:t>
            </a:r>
            <a:endParaRPr sz="2000" dirty="0">
              <a:solidFill>
                <a:srgbClr val="697C8F"/>
              </a:solidFill>
              <a:latin typeface="Yu Gothic"/>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04</a:t>
            </a:r>
          </a:p>
        </p:txBody>
      </p:sp>
      <p:sp>
        <p:nvSpPr>
          <p:cNvPr id="10" name="TextBox 9"/>
          <p:cNvSpPr txBox="1"/>
          <p:nvPr/>
        </p:nvSpPr>
        <p:spPr>
          <a:xfrm>
            <a:off x="7635240" y="1737360"/>
            <a:ext cx="4119880" cy="4023360"/>
          </a:xfrm>
          <a:prstGeom prst="rect">
            <a:avLst/>
          </a:prstGeom>
          <a:noFill/>
        </p:spPr>
        <p:txBody>
          <a:bodyPr wrap="square"/>
          <a:lstStyle/>
          <a:p>
            <a:pPr>
              <a:spcAft>
                <a:spcPts val="1100"/>
              </a:spcAft>
              <a:defRPr sz="1800">
                <a:solidFill>
                  <a:srgbClr val="2D3E50"/>
                </a:solidFill>
                <a:latin typeface="Yu Gothic"/>
              </a:defRPr>
            </a:pPr>
            <a:r>
              <a:rPr sz="2000" dirty="0"/>
              <a:t>• </a:t>
            </a:r>
            <a:r>
              <a:rPr sz="2000" dirty="0" err="1"/>
              <a:t>問題・解答の登録／編集／削除</a:t>
            </a:r>
            <a:endParaRPr sz="2000" dirty="0"/>
          </a:p>
          <a:p>
            <a:pPr>
              <a:spcAft>
                <a:spcPts val="1100"/>
              </a:spcAft>
              <a:defRPr sz="1800">
                <a:solidFill>
                  <a:srgbClr val="2D3E50"/>
                </a:solidFill>
                <a:latin typeface="Yu Gothic"/>
              </a:defRPr>
            </a:pPr>
            <a:r>
              <a:rPr sz="2000" dirty="0"/>
              <a:t>• </a:t>
            </a:r>
            <a:r>
              <a:rPr sz="2000" dirty="0" err="1"/>
              <a:t>カテゴリによる分類と絞り込み</a:t>
            </a:r>
            <a:endParaRPr sz="2000" dirty="0"/>
          </a:p>
          <a:p>
            <a:pPr>
              <a:spcAft>
                <a:spcPts val="1100"/>
              </a:spcAft>
              <a:defRPr sz="1800">
                <a:solidFill>
                  <a:srgbClr val="2D3E50"/>
                </a:solidFill>
                <a:latin typeface="Yu Gothic"/>
              </a:defRPr>
            </a:pPr>
            <a:r>
              <a:rPr sz="2000" dirty="0"/>
              <a:t>• </a:t>
            </a:r>
            <a:r>
              <a:rPr sz="2000" dirty="0" err="1"/>
              <a:t>キーワード検索</a:t>
            </a:r>
            <a:endParaRPr sz="2000" dirty="0"/>
          </a:p>
          <a:p>
            <a:pPr>
              <a:spcAft>
                <a:spcPts val="1100"/>
              </a:spcAft>
              <a:defRPr sz="1800">
                <a:solidFill>
                  <a:srgbClr val="2D3E50"/>
                </a:solidFill>
                <a:latin typeface="Yu Gothic"/>
              </a:defRPr>
            </a:pPr>
            <a:r>
              <a:rPr sz="2000" dirty="0"/>
              <a:t>• </a:t>
            </a:r>
            <a:r>
              <a:rPr sz="2000" dirty="0" err="1"/>
              <a:t>複数カードの一括操作</a:t>
            </a:r>
            <a:endParaRPr sz="2000" dirty="0"/>
          </a:p>
          <a:p>
            <a:pPr>
              <a:spcAft>
                <a:spcPts val="1100"/>
              </a:spcAft>
              <a:defRPr sz="1800">
                <a:solidFill>
                  <a:srgbClr val="2D3E50"/>
                </a:solidFill>
                <a:latin typeface="Yu Gothic"/>
              </a:defRPr>
            </a:pPr>
            <a:r>
              <a:rPr sz="2000" dirty="0"/>
              <a:t>• Excel（.</a:t>
            </a:r>
            <a:r>
              <a:rPr sz="2000" dirty="0" err="1"/>
              <a:t>xlsx）からカードを一括取り込み</a:t>
            </a:r>
            <a:r>
              <a:rPr sz="2000" dirty="0"/>
              <a:t>
• </a:t>
            </a:r>
            <a:r>
              <a:rPr sz="2000" dirty="0" err="1"/>
              <a:t>問題画像・解答画像にも対応</a:t>
            </a:r>
            <a:endParaRPr sz="2000" dirty="0"/>
          </a:p>
        </p:txBody>
      </p:sp>
      <p:sp>
        <p:nvSpPr>
          <p:cNvPr id="11" name="TextBox 10"/>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pic>
        <p:nvPicPr>
          <p:cNvPr id="13" name="図 12">
            <a:extLst>
              <a:ext uri="{FF2B5EF4-FFF2-40B4-BE49-F238E27FC236}">
                <a16:creationId xmlns:a16="http://schemas.microsoft.com/office/drawing/2014/main" id="{0C9063B8-1052-4600-93B1-853213BFF291}"/>
              </a:ext>
            </a:extLst>
          </p:cNvPr>
          <p:cNvPicPr>
            <a:picLocks noChangeAspect="1"/>
          </p:cNvPicPr>
          <p:nvPr/>
        </p:nvPicPr>
        <p:blipFill>
          <a:blip r:embed="rId2"/>
          <a:stretch>
            <a:fillRect/>
          </a:stretch>
        </p:blipFill>
        <p:spPr>
          <a:xfrm>
            <a:off x="436880" y="1513841"/>
            <a:ext cx="7134352" cy="4023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学習画面</a:t>
            </a:r>
          </a:p>
        </p:txBody>
      </p:sp>
      <p:sp>
        <p:nvSpPr>
          <p:cNvPr id="6" name="TextBox 5"/>
          <p:cNvSpPr txBox="1"/>
          <p:nvPr/>
        </p:nvSpPr>
        <p:spPr>
          <a:xfrm>
            <a:off x="713232" y="1033271"/>
            <a:ext cx="4943982" cy="400110"/>
          </a:xfrm>
          <a:prstGeom prst="rect">
            <a:avLst/>
          </a:prstGeom>
          <a:noFill/>
        </p:spPr>
        <p:txBody>
          <a:bodyPr wrap="none">
            <a:spAutoFit/>
          </a:bodyPr>
          <a:lstStyle/>
          <a:p>
            <a:r>
              <a:rPr sz="2000" dirty="0">
                <a:solidFill>
                  <a:srgbClr val="697C8F"/>
                </a:solidFill>
                <a:latin typeface="Yu Gothic"/>
              </a:rPr>
              <a:t>迷わず回答できる、シンプルな4段階評価</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05</a:t>
            </a:r>
          </a:p>
        </p:txBody>
      </p:sp>
      <p:pic>
        <p:nvPicPr>
          <p:cNvPr id="8" name="Picture 7" descr="087960ed-f9c7-4c3d-8381-eb48dd3ac6fb.png"/>
          <p:cNvPicPr>
            <a:picLocks noChangeAspect="1"/>
          </p:cNvPicPr>
          <p:nvPr/>
        </p:nvPicPr>
        <p:blipFill>
          <a:blip r:embed="rId2"/>
          <a:stretch>
            <a:fillRect/>
          </a:stretch>
        </p:blipFill>
        <p:spPr>
          <a:xfrm>
            <a:off x="640080" y="1417320"/>
            <a:ext cx="7315200" cy="4495154"/>
          </a:xfrm>
          <a:prstGeom prst="rect">
            <a:avLst/>
          </a:prstGeom>
        </p:spPr>
      </p:pic>
      <p:sp>
        <p:nvSpPr>
          <p:cNvPr id="9" name="TextBox 8"/>
          <p:cNvSpPr txBox="1"/>
          <p:nvPr/>
        </p:nvSpPr>
        <p:spPr>
          <a:xfrm>
            <a:off x="8229600" y="1600200"/>
            <a:ext cx="3596640" cy="4297680"/>
          </a:xfrm>
          <a:prstGeom prst="rect">
            <a:avLst/>
          </a:prstGeom>
          <a:noFill/>
        </p:spPr>
        <p:txBody>
          <a:bodyPr wrap="square"/>
          <a:lstStyle/>
          <a:p>
            <a:pPr>
              <a:spcAft>
                <a:spcPts val="1100"/>
              </a:spcAft>
              <a:defRPr sz="1800">
                <a:solidFill>
                  <a:srgbClr val="2D3E50"/>
                </a:solidFill>
                <a:latin typeface="Yu Gothic"/>
              </a:defRPr>
            </a:pPr>
            <a:r>
              <a:rPr sz="2000" dirty="0"/>
              <a:t>• 「もう一度・難しい・良い・簡単」の4段階</a:t>
            </a:r>
          </a:p>
          <a:p>
            <a:pPr>
              <a:spcAft>
                <a:spcPts val="1100"/>
              </a:spcAft>
              <a:defRPr sz="1800">
                <a:solidFill>
                  <a:srgbClr val="2D3E50"/>
                </a:solidFill>
                <a:latin typeface="Yu Gothic"/>
              </a:defRPr>
            </a:pPr>
            <a:r>
              <a:rPr sz="2000" dirty="0"/>
              <a:t>• </a:t>
            </a:r>
            <a:r>
              <a:rPr sz="2000" dirty="0" err="1"/>
              <a:t>答えを見るまで評価ボタンを非表示</a:t>
            </a:r>
            <a:endParaRPr sz="2000" dirty="0"/>
          </a:p>
          <a:p>
            <a:pPr>
              <a:spcAft>
                <a:spcPts val="1100"/>
              </a:spcAft>
              <a:defRPr sz="1800">
                <a:solidFill>
                  <a:srgbClr val="2D3E50"/>
                </a:solidFill>
                <a:latin typeface="Yu Gothic"/>
              </a:defRPr>
            </a:pPr>
            <a:r>
              <a:rPr sz="2000" dirty="0"/>
              <a:t>• </a:t>
            </a:r>
            <a:r>
              <a:rPr sz="2000" dirty="0" err="1"/>
              <a:t>カテゴリ別に学習可能</a:t>
            </a:r>
            <a:endParaRPr sz="2000" dirty="0"/>
          </a:p>
          <a:p>
            <a:pPr>
              <a:spcAft>
                <a:spcPts val="1100"/>
              </a:spcAft>
              <a:defRPr sz="1800">
                <a:solidFill>
                  <a:srgbClr val="2D3E50"/>
                </a:solidFill>
                <a:latin typeface="Yu Gothic"/>
              </a:defRPr>
            </a:pPr>
            <a:r>
              <a:rPr sz="2000" dirty="0"/>
              <a:t>• </a:t>
            </a:r>
            <a:r>
              <a:rPr sz="2000" dirty="0" err="1"/>
              <a:t>今日の回答回数と残り枚数を表示</a:t>
            </a:r>
            <a:endParaRPr sz="2000" dirty="0"/>
          </a:p>
          <a:p>
            <a:pPr>
              <a:spcAft>
                <a:spcPts val="1100"/>
              </a:spcAft>
              <a:defRPr sz="1800">
                <a:solidFill>
                  <a:srgbClr val="2D3E50"/>
                </a:solidFill>
                <a:latin typeface="Yu Gothic"/>
              </a:defRPr>
            </a:pPr>
            <a:r>
              <a:rPr sz="2000" dirty="0"/>
              <a:t>• </a:t>
            </a:r>
            <a:r>
              <a:rPr sz="2000" dirty="0" err="1"/>
              <a:t>学習完了時には紙吹雪演出</a:t>
            </a:r>
            <a:endParaRPr sz="2000" dirty="0"/>
          </a:p>
        </p:txBody>
      </p:sp>
      <p:sp>
        <p:nvSpPr>
          <p:cNvPr id="10" name="TextBox 9"/>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5404043" cy="523220"/>
          </a:xfrm>
          <a:prstGeom prst="rect">
            <a:avLst/>
          </a:prstGeom>
          <a:noFill/>
        </p:spPr>
        <p:txBody>
          <a:bodyPr wrap="none">
            <a:spAutoFit/>
          </a:bodyPr>
          <a:lstStyle/>
          <a:p>
            <a:r>
              <a:rPr sz="2800" b="1" dirty="0" err="1">
                <a:solidFill>
                  <a:schemeClr val="accent1">
                    <a:lumMod val="75000"/>
                  </a:schemeClr>
                </a:solidFill>
                <a:latin typeface="Yu Gothic"/>
              </a:rPr>
              <a:t>忘却曲線</a:t>
            </a:r>
            <a:r>
              <a:rPr lang="ja-JP" altLang="en-US" sz="2800" b="1" dirty="0">
                <a:solidFill>
                  <a:schemeClr val="accent1">
                    <a:lumMod val="75000"/>
                  </a:schemeClr>
                </a:solidFill>
                <a:latin typeface="Yu Gothic"/>
              </a:rPr>
              <a:t>をもとにした復習ロジック</a:t>
            </a:r>
            <a:endParaRPr sz="2800" b="1" dirty="0">
              <a:solidFill>
                <a:schemeClr val="accent1">
                  <a:lumMod val="75000"/>
                </a:schemeClr>
              </a:solidFill>
              <a:latin typeface="Yu Gothic"/>
            </a:endParaRPr>
          </a:p>
        </p:txBody>
      </p:sp>
      <p:sp>
        <p:nvSpPr>
          <p:cNvPr id="6" name="TextBox 5"/>
          <p:cNvSpPr txBox="1"/>
          <p:nvPr/>
        </p:nvSpPr>
        <p:spPr>
          <a:xfrm>
            <a:off x="713232" y="1033271"/>
            <a:ext cx="4996881" cy="369332"/>
          </a:xfrm>
          <a:prstGeom prst="rect">
            <a:avLst/>
          </a:prstGeom>
          <a:noFill/>
        </p:spPr>
        <p:txBody>
          <a:bodyPr wrap="none">
            <a:spAutoFit/>
          </a:bodyPr>
          <a:lstStyle/>
          <a:p>
            <a:r>
              <a:rPr lang="ja-JP" altLang="en-US" dirty="0">
                <a:latin typeface="游ゴシック" panose="020B0400000000000000" pitchFamily="50" charset="-128"/>
                <a:ea typeface="游ゴシック" panose="020B0400000000000000" pitchFamily="50" charset="-128"/>
              </a:rPr>
              <a:t>忘れる前に復習する考え方を</a:t>
            </a:r>
            <a:r>
              <a:rPr lang="en-US" altLang="ja-JP" dirty="0" err="1">
                <a:latin typeface="游ゴシック" panose="020B0400000000000000" pitchFamily="50" charset="-128"/>
                <a:ea typeface="游ゴシック" panose="020B0400000000000000" pitchFamily="50" charset="-128"/>
              </a:rPr>
              <a:t>StudyFlow</a:t>
            </a:r>
            <a:r>
              <a:rPr lang="ja-JP" altLang="en-US" dirty="0">
                <a:latin typeface="游ゴシック" panose="020B0400000000000000" pitchFamily="50" charset="-128"/>
                <a:ea typeface="游ゴシック" panose="020B0400000000000000" pitchFamily="50" charset="-128"/>
              </a:rPr>
              <a:t>に活用</a:t>
            </a:r>
            <a:endParaRPr dirty="0">
              <a:latin typeface="游ゴシック" panose="020B0400000000000000" pitchFamily="50" charset="-128"/>
              <a:ea typeface="游ゴシック" panose="020B0400000000000000" pitchFamily="50" charset="-128"/>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06</a:t>
            </a:r>
          </a:p>
        </p:txBody>
      </p:sp>
      <p:sp>
        <p:nvSpPr>
          <p:cNvPr id="11" name="TextBox 10"/>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pic>
        <p:nvPicPr>
          <p:cNvPr id="13" name="図 12">
            <a:extLst>
              <a:ext uri="{FF2B5EF4-FFF2-40B4-BE49-F238E27FC236}">
                <a16:creationId xmlns:a16="http://schemas.microsoft.com/office/drawing/2014/main" id="{3F88E98E-E6CE-4B67-8875-73BE3C6C5283}"/>
              </a:ext>
            </a:extLst>
          </p:cNvPr>
          <p:cNvPicPr>
            <a:picLocks noChangeAspect="1"/>
          </p:cNvPicPr>
          <p:nvPr/>
        </p:nvPicPr>
        <p:blipFill>
          <a:blip r:embed="rId2"/>
          <a:stretch>
            <a:fillRect/>
          </a:stretch>
        </p:blipFill>
        <p:spPr>
          <a:xfrm>
            <a:off x="713232" y="1337000"/>
            <a:ext cx="10178288" cy="48845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dirty="0" err="1">
                <a:solidFill>
                  <a:srgbClr val="1A4376"/>
                </a:solidFill>
                <a:latin typeface="Yu Gothic"/>
              </a:rPr>
              <a:t>復習日はどう決まる</a:t>
            </a:r>
            <a:r>
              <a:rPr sz="2800" b="1" dirty="0">
                <a:solidFill>
                  <a:srgbClr val="1A4376"/>
                </a:solidFill>
                <a:latin typeface="Yu Gothic"/>
              </a:rPr>
              <a:t>？</a:t>
            </a:r>
          </a:p>
        </p:txBody>
      </p:sp>
      <p:sp>
        <p:nvSpPr>
          <p:cNvPr id="6" name="TextBox 5"/>
          <p:cNvSpPr txBox="1"/>
          <p:nvPr/>
        </p:nvSpPr>
        <p:spPr>
          <a:xfrm>
            <a:off x="713232" y="1033271"/>
            <a:ext cx="6482865" cy="400110"/>
          </a:xfrm>
          <a:prstGeom prst="rect">
            <a:avLst/>
          </a:prstGeom>
          <a:noFill/>
        </p:spPr>
        <p:txBody>
          <a:bodyPr wrap="none">
            <a:spAutoFit/>
          </a:bodyPr>
          <a:lstStyle/>
          <a:p>
            <a:r>
              <a:rPr sz="2000" dirty="0">
                <a:solidFill>
                  <a:srgbClr val="697C8F"/>
                </a:solidFill>
                <a:latin typeface="Yu Gothic"/>
              </a:rPr>
              <a:t>答えを4段階で選ぶと、次の復習日が自動で決まります</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07</a:t>
            </a:r>
          </a:p>
        </p:txBody>
      </p:sp>
      <p:sp>
        <p:nvSpPr>
          <p:cNvPr id="8" name="Rounded Rectangle 7"/>
          <p:cNvSpPr/>
          <p:nvPr/>
        </p:nvSpPr>
        <p:spPr>
          <a:xfrm>
            <a:off x="781050" y="1857375"/>
            <a:ext cx="5181600" cy="10287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81050" y="1857375"/>
            <a:ext cx="66675" cy="1028700"/>
          </a:xfrm>
          <a:prstGeom prst="rect">
            <a:avLst/>
          </a:prstGeom>
          <a:solidFill>
            <a:srgbClr val="DE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9650" y="1981200"/>
            <a:ext cx="4695825" cy="809625"/>
          </a:xfrm>
          <a:prstGeom prst="rect">
            <a:avLst/>
          </a:prstGeom>
          <a:noFill/>
        </p:spPr>
        <p:txBody>
          <a:bodyPr wrap="square"/>
          <a:lstStyle/>
          <a:p>
            <a:r>
              <a:rPr sz="2400" b="1">
                <a:solidFill>
                  <a:srgbClr val="1A4376"/>
                </a:solidFill>
                <a:latin typeface="Yu Gothic"/>
              </a:rPr>
              <a:t>もう一度</a:t>
            </a:r>
          </a:p>
          <a:p>
            <a:pPr>
              <a:spcBef>
                <a:spcPts val="500"/>
              </a:spcBef>
              <a:defRPr sz="1800">
                <a:solidFill>
                  <a:srgbClr val="697C8F"/>
                </a:solidFill>
                <a:latin typeface="Yu Gothic"/>
              </a:defRPr>
            </a:pPr>
            <a:r>
              <a:t>約1分後にもう一度</a:t>
            </a:r>
          </a:p>
        </p:txBody>
      </p:sp>
      <p:sp>
        <p:nvSpPr>
          <p:cNvPr id="11" name="Rounded Rectangle 10"/>
          <p:cNvSpPr/>
          <p:nvPr/>
        </p:nvSpPr>
        <p:spPr>
          <a:xfrm>
            <a:off x="6210300" y="1857375"/>
            <a:ext cx="5181600" cy="10287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0300" y="1857375"/>
            <a:ext cx="66675" cy="1028700"/>
          </a:xfrm>
          <a:prstGeom prst="rect">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8900" y="1981200"/>
            <a:ext cx="4695825" cy="809625"/>
          </a:xfrm>
          <a:prstGeom prst="rect">
            <a:avLst/>
          </a:prstGeom>
          <a:noFill/>
        </p:spPr>
        <p:txBody>
          <a:bodyPr wrap="square"/>
          <a:lstStyle/>
          <a:p>
            <a:r>
              <a:rPr sz="2400" b="1">
                <a:solidFill>
                  <a:srgbClr val="1A4376"/>
                </a:solidFill>
                <a:latin typeface="Yu Gothic"/>
              </a:rPr>
              <a:t>難しい</a:t>
            </a:r>
          </a:p>
          <a:p>
            <a:pPr>
              <a:spcBef>
                <a:spcPts val="500"/>
              </a:spcBef>
              <a:defRPr sz="1800">
                <a:solidFill>
                  <a:srgbClr val="697C8F"/>
                </a:solidFill>
                <a:latin typeface="Yu Gothic"/>
              </a:defRPr>
            </a:pPr>
            <a:r>
              <a:t>約10分後にもう一度</a:t>
            </a:r>
          </a:p>
        </p:txBody>
      </p:sp>
      <p:sp>
        <p:nvSpPr>
          <p:cNvPr id="14" name="Rounded Rectangle 13"/>
          <p:cNvSpPr/>
          <p:nvPr/>
        </p:nvSpPr>
        <p:spPr>
          <a:xfrm>
            <a:off x="781050" y="2990850"/>
            <a:ext cx="5181600" cy="10287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1050" y="2990850"/>
            <a:ext cx="66675" cy="1028700"/>
          </a:xfrm>
          <a:prstGeom prst="rect">
            <a:avLst/>
          </a:prstGeom>
          <a:solidFill>
            <a:srgbClr val="F09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9650" y="3114675"/>
            <a:ext cx="4695825" cy="809625"/>
          </a:xfrm>
          <a:prstGeom prst="rect">
            <a:avLst/>
          </a:prstGeom>
          <a:noFill/>
        </p:spPr>
        <p:txBody>
          <a:bodyPr wrap="square"/>
          <a:lstStyle/>
          <a:p>
            <a:r>
              <a:rPr sz="2400" b="1">
                <a:solidFill>
                  <a:srgbClr val="1A4376"/>
                </a:solidFill>
                <a:latin typeface="Yu Gothic"/>
              </a:rPr>
              <a:t>良い</a:t>
            </a:r>
          </a:p>
          <a:p>
            <a:pPr>
              <a:spcBef>
                <a:spcPts val="500"/>
              </a:spcBef>
              <a:defRPr sz="1800">
                <a:solidFill>
                  <a:srgbClr val="697C8F"/>
                </a:solidFill>
                <a:latin typeface="Yu Gothic"/>
              </a:defRPr>
            </a:pPr>
            <a:r>
              <a:t>覚え具合に合わせて後日復習</a:t>
            </a:r>
          </a:p>
        </p:txBody>
      </p:sp>
      <p:sp>
        <p:nvSpPr>
          <p:cNvPr id="17" name="Rounded Rectangle 16"/>
          <p:cNvSpPr/>
          <p:nvPr/>
        </p:nvSpPr>
        <p:spPr>
          <a:xfrm>
            <a:off x="6210300" y="2990850"/>
            <a:ext cx="5181600" cy="1028700"/>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0300" y="2990850"/>
            <a:ext cx="66675" cy="1028700"/>
          </a:xfrm>
          <a:prstGeom prst="rect">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8900" y="3114675"/>
            <a:ext cx="4695825" cy="809625"/>
          </a:xfrm>
          <a:prstGeom prst="rect">
            <a:avLst/>
          </a:prstGeom>
          <a:noFill/>
        </p:spPr>
        <p:txBody>
          <a:bodyPr wrap="square"/>
          <a:lstStyle/>
          <a:p>
            <a:r>
              <a:rPr sz="2400" b="1">
                <a:solidFill>
                  <a:srgbClr val="1A4376"/>
                </a:solidFill>
                <a:latin typeface="Yu Gothic"/>
              </a:rPr>
              <a:t>簡単</a:t>
            </a:r>
          </a:p>
          <a:p>
            <a:pPr>
              <a:spcBef>
                <a:spcPts val="500"/>
              </a:spcBef>
              <a:defRPr sz="1800">
                <a:solidFill>
                  <a:srgbClr val="697C8F"/>
                </a:solidFill>
                <a:latin typeface="Yu Gothic"/>
              </a:defRPr>
            </a:pPr>
            <a:r>
              <a:t>次の復習までの間隔を長めに</a:t>
            </a:r>
          </a:p>
        </p:txBody>
      </p:sp>
      <p:sp>
        <p:nvSpPr>
          <p:cNvPr id="20" name="TextBox 19"/>
          <p:cNvSpPr txBox="1"/>
          <p:nvPr/>
        </p:nvSpPr>
        <p:spPr>
          <a:xfrm>
            <a:off x="1066800" y="4343400"/>
            <a:ext cx="10001250" cy="514350"/>
          </a:xfrm>
          <a:prstGeom prst="rect">
            <a:avLst/>
          </a:prstGeom>
          <a:noFill/>
        </p:spPr>
        <p:txBody>
          <a:bodyPr wrap="none">
            <a:spAutoFit/>
          </a:bodyPr>
          <a:lstStyle/>
          <a:p>
            <a:pPr algn="ctr"/>
            <a:r>
              <a:rPr sz="2600" b="1">
                <a:solidFill>
                  <a:srgbClr val="1A4376"/>
                </a:solidFill>
                <a:latin typeface="Yu Gothic"/>
              </a:rPr>
              <a:t>回答とこれまでの学習記録を使って計算</a:t>
            </a:r>
          </a:p>
        </p:txBody>
      </p:sp>
      <p:sp>
        <p:nvSpPr>
          <p:cNvPr id="21" name="TextBox 20"/>
          <p:cNvSpPr txBox="1"/>
          <p:nvPr/>
        </p:nvSpPr>
        <p:spPr>
          <a:xfrm>
            <a:off x="1190625" y="5067300"/>
            <a:ext cx="9810750" cy="647700"/>
          </a:xfrm>
          <a:prstGeom prst="rect">
            <a:avLst/>
          </a:prstGeom>
          <a:noFill/>
        </p:spPr>
        <p:txBody>
          <a:bodyPr wrap="square"/>
          <a:lstStyle/>
          <a:p>
            <a:pPr algn="ctr">
              <a:spcAft>
                <a:spcPts val="800"/>
              </a:spcAft>
              <a:defRPr sz="2100">
                <a:solidFill>
                  <a:srgbClr val="2D3E50"/>
                </a:solidFill>
                <a:latin typeface="Yu Gothic"/>
              </a:defRPr>
            </a:pPr>
            <a:r>
              <a:t>忘れたカードは早めに、覚えたカードは日を空けて復習します</a:t>
            </a:r>
          </a:p>
        </p:txBody>
      </p:sp>
      <p:sp>
        <p:nvSpPr>
          <p:cNvPr id="22" name="TextBox 21"/>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学習すると、次の復習日が決まる</a:t>
            </a:r>
          </a:p>
        </p:txBody>
      </p:sp>
      <p:sp>
        <p:nvSpPr>
          <p:cNvPr id="6" name="TextBox 5"/>
          <p:cNvSpPr txBox="1"/>
          <p:nvPr/>
        </p:nvSpPr>
        <p:spPr>
          <a:xfrm>
            <a:off x="713232" y="1033271"/>
            <a:ext cx="3775393" cy="400110"/>
          </a:xfrm>
          <a:prstGeom prst="rect">
            <a:avLst/>
          </a:prstGeom>
          <a:noFill/>
        </p:spPr>
        <p:txBody>
          <a:bodyPr wrap="none">
            <a:spAutoFit/>
          </a:bodyPr>
          <a:lstStyle/>
          <a:p>
            <a:r>
              <a:rPr sz="2000" dirty="0" err="1">
                <a:solidFill>
                  <a:srgbClr val="697C8F"/>
                </a:solidFill>
                <a:latin typeface="Yu Gothic"/>
              </a:rPr>
              <a:t>カードに「良い」と回答した例</a:t>
            </a:r>
            <a:endParaRPr sz="2000" dirty="0">
              <a:solidFill>
                <a:srgbClr val="697C8F"/>
              </a:solidFill>
              <a:latin typeface="Yu Gothic"/>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08</a:t>
            </a:r>
          </a:p>
        </p:txBody>
      </p:sp>
      <p:sp>
        <p:nvSpPr>
          <p:cNvPr id="8" name="Rounded Rectangle 7"/>
          <p:cNvSpPr/>
          <p:nvPr/>
        </p:nvSpPr>
        <p:spPr>
          <a:xfrm>
            <a:off x="762000" y="2047875"/>
            <a:ext cx="3276600" cy="2619375"/>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2000" y="2047875"/>
            <a:ext cx="66675" cy="2619375"/>
          </a:xfrm>
          <a:prstGeom prst="rect">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0600" y="2333625"/>
            <a:ext cx="2819400" cy="2066925"/>
          </a:xfrm>
          <a:prstGeom prst="rect">
            <a:avLst/>
          </a:prstGeom>
          <a:noFill/>
        </p:spPr>
        <p:txBody>
          <a:bodyPr wrap="none">
            <a:spAutoFit/>
          </a:bodyPr>
          <a:lstStyle/>
          <a:p>
            <a:r>
              <a:rPr sz="2400" b="1">
                <a:solidFill>
                  <a:srgbClr val="1A4376"/>
                </a:solidFill>
                <a:latin typeface="Yu Gothic"/>
              </a:rPr>
              <a:t>回答前</a:t>
            </a:r>
          </a:p>
          <a:p>
            <a:pPr>
              <a:spcBef>
                <a:spcPts val="500"/>
              </a:spcBef>
              <a:defRPr sz="1900">
                <a:solidFill>
                  <a:srgbClr val="697C8F"/>
                </a:solidFill>
                <a:latin typeface="Yu Gothic"/>
              </a:defRPr>
            </a:pPr>
            <a:r>
              <a:t>9月15日
記憶の安定度 1.00</a:t>
            </a:r>
          </a:p>
        </p:txBody>
      </p:sp>
      <p:sp>
        <p:nvSpPr>
          <p:cNvPr id="11" name="TextBox 10"/>
          <p:cNvSpPr txBox="1"/>
          <p:nvPr/>
        </p:nvSpPr>
        <p:spPr>
          <a:xfrm>
            <a:off x="1695450" y="5200650"/>
            <a:ext cx="8810625" cy="695325"/>
          </a:xfrm>
          <a:prstGeom prst="rect">
            <a:avLst/>
          </a:prstGeom>
          <a:noFill/>
        </p:spPr>
        <p:txBody>
          <a:bodyPr wrap="none">
            <a:spAutoFit/>
          </a:bodyPr>
          <a:lstStyle/>
          <a:p>
            <a:pPr algn="ctr"/>
            <a:r>
              <a:rPr sz="2300" b="1">
                <a:solidFill>
                  <a:srgbClr val="3DBE7E"/>
                </a:solidFill>
              </a:rPr>
              <a:t>回答するたびに、カードごとの復習日を更新します</a:t>
            </a:r>
          </a:p>
        </p:txBody>
      </p:sp>
      <p:sp>
        <p:nvSpPr>
          <p:cNvPr id="12" name="Rounded Rectangle 11"/>
          <p:cNvSpPr/>
          <p:nvPr/>
        </p:nvSpPr>
        <p:spPr>
          <a:xfrm>
            <a:off x="4457700" y="2047875"/>
            <a:ext cx="3276600" cy="2619375"/>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57700" y="2047875"/>
            <a:ext cx="66675" cy="2619375"/>
          </a:xfrm>
          <a:prstGeom prst="rect">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86300" y="2333625"/>
            <a:ext cx="2819400" cy="2066925"/>
          </a:xfrm>
          <a:prstGeom prst="rect">
            <a:avLst/>
          </a:prstGeom>
          <a:noFill/>
        </p:spPr>
        <p:txBody>
          <a:bodyPr wrap="none">
            <a:spAutoFit/>
          </a:bodyPr>
          <a:lstStyle/>
          <a:p>
            <a:r>
              <a:rPr sz="2400" b="1">
                <a:solidFill>
                  <a:srgbClr val="1A4376"/>
                </a:solidFill>
                <a:latin typeface="Yu Gothic"/>
              </a:rPr>
              <a:t>良いを選ぶ</a:t>
            </a:r>
          </a:p>
          <a:p>
            <a:pPr>
              <a:spcBef>
                <a:spcPts val="500"/>
              </a:spcBef>
              <a:defRPr sz="1900">
                <a:solidFill>
                  <a:srgbClr val="697C8F"/>
                </a:solidFill>
                <a:latin typeface="Yu Gothic"/>
              </a:defRPr>
            </a:pPr>
            <a:r>
              <a:t>覚えていたと回答</a:t>
            </a:r>
          </a:p>
        </p:txBody>
      </p:sp>
      <p:sp>
        <p:nvSpPr>
          <p:cNvPr id="15" name="Rounded Rectangle 14"/>
          <p:cNvSpPr/>
          <p:nvPr/>
        </p:nvSpPr>
        <p:spPr>
          <a:xfrm>
            <a:off x="8153400" y="2047875"/>
            <a:ext cx="3276600" cy="2619375"/>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53400" y="2047875"/>
            <a:ext cx="66675" cy="2619375"/>
          </a:xfrm>
          <a:prstGeom prst="rect">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2000" y="2333625"/>
            <a:ext cx="2819400" cy="2066925"/>
          </a:xfrm>
          <a:prstGeom prst="rect">
            <a:avLst/>
          </a:prstGeom>
          <a:noFill/>
        </p:spPr>
        <p:txBody>
          <a:bodyPr wrap="none">
            <a:spAutoFit/>
          </a:bodyPr>
          <a:lstStyle/>
          <a:p>
            <a:r>
              <a:rPr sz="2400" b="1">
                <a:solidFill>
                  <a:srgbClr val="1A4376"/>
                </a:solidFill>
                <a:latin typeface="Yu Gothic"/>
              </a:rPr>
              <a:t>次回は翌日</a:t>
            </a:r>
          </a:p>
          <a:p>
            <a:pPr>
              <a:spcBef>
                <a:spcPts val="500"/>
              </a:spcBef>
              <a:defRPr sz="1900">
                <a:solidFill>
                  <a:srgbClr val="697C8F"/>
                </a:solidFill>
                <a:latin typeface="Yu Gothic"/>
              </a:defRPr>
            </a:pPr>
            <a:r>
              <a:t>9月16日に復習
記憶の安定度 1.46</a:t>
            </a:r>
          </a:p>
        </p:txBody>
      </p:sp>
      <p:sp>
        <p:nvSpPr>
          <p:cNvPr id="18" name="TextBox 17"/>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0515600" cy="685800"/>
          </a:xfrm>
          <a:prstGeom prst="rect">
            <a:avLst/>
          </a:prstGeom>
          <a:noFill/>
        </p:spPr>
        <p:txBody>
          <a:bodyPr wrap="none">
            <a:spAutoFit/>
          </a:bodyPr>
          <a:lstStyle/>
          <a:p>
            <a:r>
              <a:rPr sz="2800" b="1">
                <a:solidFill>
                  <a:srgbClr val="1A4376"/>
                </a:solidFill>
                <a:latin typeface="Yu Gothic"/>
              </a:rPr>
              <a:t>ダッシュボード・学習データ</a:t>
            </a:r>
          </a:p>
        </p:txBody>
      </p:sp>
      <p:sp>
        <p:nvSpPr>
          <p:cNvPr id="6" name="TextBox 5"/>
          <p:cNvSpPr txBox="1"/>
          <p:nvPr/>
        </p:nvSpPr>
        <p:spPr>
          <a:xfrm>
            <a:off x="713232" y="1033271"/>
            <a:ext cx="4288353" cy="400110"/>
          </a:xfrm>
          <a:prstGeom prst="rect">
            <a:avLst/>
          </a:prstGeom>
          <a:noFill/>
        </p:spPr>
        <p:txBody>
          <a:bodyPr wrap="none">
            <a:spAutoFit/>
          </a:bodyPr>
          <a:lstStyle/>
          <a:p>
            <a:r>
              <a:rPr sz="2000" dirty="0" err="1">
                <a:solidFill>
                  <a:srgbClr val="697C8F"/>
                </a:solidFill>
                <a:latin typeface="Yu Gothic"/>
              </a:rPr>
              <a:t>学習結果を見える化し、継続を支援</a:t>
            </a:r>
            <a:endParaRPr sz="2000" dirty="0">
              <a:solidFill>
                <a:srgbClr val="697C8F"/>
              </a:solidFill>
              <a:latin typeface="Yu Gothic"/>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09</a:t>
            </a:r>
          </a:p>
        </p:txBody>
      </p:sp>
      <p:sp>
        <p:nvSpPr>
          <p:cNvPr id="9" name="TextBox 8"/>
          <p:cNvSpPr txBox="1"/>
          <p:nvPr/>
        </p:nvSpPr>
        <p:spPr>
          <a:xfrm>
            <a:off x="3930994" y="3598273"/>
            <a:ext cx="184730" cy="292388"/>
          </a:xfrm>
          <a:prstGeom prst="rect">
            <a:avLst/>
          </a:prstGeom>
          <a:noFill/>
        </p:spPr>
        <p:txBody>
          <a:bodyPr wrap="none" anchor="ctr">
            <a:spAutoFit/>
          </a:bodyPr>
          <a:lstStyle/>
          <a:p>
            <a:pPr algn="ctr"/>
            <a:endParaRPr sz="1300" b="1" dirty="0">
              <a:solidFill>
                <a:srgbClr val="697C8F"/>
              </a:solidFill>
              <a:latin typeface="Yu Gothic"/>
            </a:endParaRPr>
          </a:p>
        </p:txBody>
      </p:sp>
      <p:sp>
        <p:nvSpPr>
          <p:cNvPr id="10" name="TextBox 9"/>
          <p:cNvSpPr txBox="1"/>
          <p:nvPr/>
        </p:nvSpPr>
        <p:spPr>
          <a:xfrm>
            <a:off x="7589520" y="1737360"/>
            <a:ext cx="3840480" cy="3931920"/>
          </a:xfrm>
          <a:prstGeom prst="rect">
            <a:avLst/>
          </a:prstGeom>
          <a:noFill/>
        </p:spPr>
        <p:txBody>
          <a:bodyPr wrap="square"/>
          <a:lstStyle/>
          <a:p>
            <a:pPr>
              <a:spcAft>
                <a:spcPts val="1100"/>
              </a:spcAft>
              <a:defRPr sz="1800">
                <a:solidFill>
                  <a:srgbClr val="2D3E50"/>
                </a:solidFill>
                <a:latin typeface="Yu Gothic"/>
              </a:defRPr>
            </a:pPr>
            <a:r>
              <a:t>• 今日の学習対象へすぐ移動</a:t>
            </a:r>
          </a:p>
          <a:p>
            <a:pPr>
              <a:spcAft>
                <a:spcPts val="1100"/>
              </a:spcAft>
              <a:defRPr sz="1800">
                <a:solidFill>
                  <a:srgbClr val="2D3E50"/>
                </a:solidFill>
                <a:latin typeface="Yu Gothic"/>
              </a:defRPr>
            </a:pPr>
            <a:r>
              <a:t>• 新規・学習中・復習カード数を表示</a:t>
            </a:r>
          </a:p>
          <a:p>
            <a:pPr>
              <a:spcAft>
                <a:spcPts val="1100"/>
              </a:spcAft>
              <a:defRPr sz="1800">
                <a:solidFill>
                  <a:srgbClr val="2D3E50"/>
                </a:solidFill>
                <a:latin typeface="Yu Gothic"/>
              </a:defRPr>
            </a:pPr>
            <a:r>
              <a:t>• 今日の学習回数と正答率</a:t>
            </a:r>
          </a:p>
          <a:p>
            <a:pPr>
              <a:spcAft>
                <a:spcPts val="1100"/>
              </a:spcAft>
              <a:defRPr sz="1800">
                <a:solidFill>
                  <a:srgbClr val="2D3E50"/>
                </a:solidFill>
                <a:latin typeface="Yu Gothic"/>
              </a:defRPr>
            </a:pPr>
            <a:r>
              <a:t>• 7日間の学習回数をグラフ化</a:t>
            </a:r>
          </a:p>
          <a:p>
            <a:pPr>
              <a:spcAft>
                <a:spcPts val="1100"/>
              </a:spcAft>
              <a:defRPr sz="1800">
                <a:solidFill>
                  <a:srgbClr val="2D3E50"/>
                </a:solidFill>
                <a:latin typeface="Yu Gothic"/>
              </a:defRPr>
            </a:pPr>
            <a:r>
              <a:t>• カード状態の割合を可視化</a:t>
            </a:r>
          </a:p>
        </p:txBody>
      </p:sp>
      <p:sp>
        <p:nvSpPr>
          <p:cNvPr id="11" name="TextBox 10"/>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pic>
        <p:nvPicPr>
          <p:cNvPr id="13" name="図 12">
            <a:extLst>
              <a:ext uri="{FF2B5EF4-FFF2-40B4-BE49-F238E27FC236}">
                <a16:creationId xmlns:a16="http://schemas.microsoft.com/office/drawing/2014/main" id="{3B5BFC14-C015-4B68-B16D-DB4EAEA20DD0}"/>
              </a:ext>
            </a:extLst>
          </p:cNvPr>
          <p:cNvPicPr>
            <a:picLocks noChangeAspect="1"/>
          </p:cNvPicPr>
          <p:nvPr/>
        </p:nvPicPr>
        <p:blipFill>
          <a:blip r:embed="rId2"/>
          <a:stretch>
            <a:fillRect/>
          </a:stretch>
        </p:blipFill>
        <p:spPr>
          <a:xfrm>
            <a:off x="843281" y="1453896"/>
            <a:ext cx="6167120" cy="43799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24000" y="2000250"/>
            <a:ext cx="9144000" cy="971550"/>
          </a:xfrm>
          <a:prstGeom prst="rect">
            <a:avLst/>
          </a:prstGeom>
          <a:noFill/>
        </p:spPr>
        <p:txBody>
          <a:bodyPr wrap="square"/>
          <a:lstStyle/>
          <a:p>
            <a:pPr algn="ctr"/>
            <a:r>
              <a:rPr sz="4500" b="1">
                <a:solidFill>
                  <a:srgbClr val="1A4376"/>
                </a:solidFill>
                <a:latin typeface="Yu Gothic"/>
              </a:rPr>
              <a:t>デモ</a:t>
            </a:r>
          </a:p>
        </p:txBody>
      </p:sp>
      <p:sp>
        <p:nvSpPr>
          <p:cNvPr id="6" name="TextBox 5"/>
          <p:cNvSpPr txBox="1"/>
          <p:nvPr/>
        </p:nvSpPr>
        <p:spPr>
          <a:xfrm>
            <a:off x="1905000" y="3095625"/>
            <a:ext cx="8382000" cy="571500"/>
          </a:xfrm>
          <a:prstGeom prst="rect">
            <a:avLst/>
          </a:prstGeom>
          <a:noFill/>
        </p:spPr>
        <p:txBody>
          <a:bodyPr wrap="none">
            <a:spAutoFit/>
          </a:bodyPr>
          <a:lstStyle/>
          <a:p>
            <a:pPr algn="ctr"/>
            <a:r>
              <a:rPr sz="2000">
                <a:solidFill>
                  <a:srgbClr val="697C8F"/>
                </a:solidFill>
                <a:latin typeface="Yu Gothic"/>
              </a:rPr>
              <a:t>StudyFlowの操作を紹介</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10</a:t>
            </a:r>
          </a:p>
        </p:txBody>
      </p:sp>
      <p:sp>
        <p:nvSpPr>
          <p:cNvPr id="8" name="TextBox 7"/>
          <p:cNvSpPr txBox="1"/>
          <p:nvPr/>
        </p:nvSpPr>
        <p:spPr>
          <a:xfrm>
            <a:off x="2238375" y="3943350"/>
            <a:ext cx="7715250" cy="1428750"/>
          </a:xfrm>
          <a:prstGeom prst="rect">
            <a:avLst/>
          </a:prstGeom>
          <a:noFill/>
        </p:spPr>
        <p:txBody>
          <a:bodyPr wrap="square"/>
          <a:lstStyle/>
          <a:p>
            <a:pPr algn="ctr">
              <a:spcAft>
                <a:spcPts val="1100"/>
              </a:spcAft>
              <a:defRPr sz="2100">
                <a:solidFill>
                  <a:srgbClr val="2D3E50"/>
                </a:solidFill>
                <a:latin typeface="Yu Gothic"/>
              </a:defRPr>
            </a:pPr>
            <a:r>
              <a:t>① Excelからカードを取り込む
② カードを学習する
③ 学習状況を確認する</a:t>
            </a:r>
          </a:p>
        </p:txBody>
      </p:sp>
      <p:sp>
        <p:nvSpPr>
          <p:cNvPr id="15" name="TextBox 14"/>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411480"/>
            <a:ext cx="1415772" cy="584775"/>
          </a:xfrm>
          <a:prstGeom prst="rect">
            <a:avLst/>
          </a:prstGeom>
          <a:noFill/>
        </p:spPr>
        <p:txBody>
          <a:bodyPr wrap="none">
            <a:spAutoFit/>
          </a:bodyPr>
          <a:lstStyle/>
          <a:p>
            <a:r>
              <a:rPr sz="3200" b="1" dirty="0" err="1">
                <a:solidFill>
                  <a:srgbClr val="1A4376"/>
                </a:solidFill>
                <a:latin typeface="Yu Gothic"/>
              </a:rPr>
              <a:t>まとめ</a:t>
            </a:r>
            <a:endParaRPr sz="3200" b="1" dirty="0">
              <a:solidFill>
                <a:srgbClr val="1A4376"/>
              </a:solidFill>
              <a:latin typeface="Yu Gothic"/>
            </a:endParaRPr>
          </a:p>
        </p:txBody>
      </p:sp>
      <p:sp>
        <p:nvSpPr>
          <p:cNvPr id="6" name="TextBox 5"/>
          <p:cNvSpPr txBox="1"/>
          <p:nvPr/>
        </p:nvSpPr>
        <p:spPr>
          <a:xfrm>
            <a:off x="713232" y="1033271"/>
            <a:ext cx="1407758" cy="400110"/>
          </a:xfrm>
          <a:prstGeom prst="rect">
            <a:avLst/>
          </a:prstGeom>
          <a:noFill/>
        </p:spPr>
        <p:txBody>
          <a:bodyPr wrap="none">
            <a:spAutoFit/>
          </a:bodyPr>
          <a:lstStyle/>
          <a:p>
            <a:r>
              <a:rPr lang="ja-JP" altLang="en-US" sz="2000" dirty="0">
                <a:solidFill>
                  <a:srgbClr val="697C8F"/>
                </a:solidFill>
                <a:latin typeface="Yu Gothic"/>
              </a:rPr>
              <a:t>感想と反省</a:t>
            </a:r>
            <a:endParaRPr sz="2000" dirty="0">
              <a:solidFill>
                <a:srgbClr val="697C8F"/>
              </a:solidFill>
              <a:latin typeface="Yu Gothic"/>
            </a:endParaRP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11</a:t>
            </a:r>
          </a:p>
        </p:txBody>
      </p:sp>
      <p:sp>
        <p:nvSpPr>
          <p:cNvPr id="8" name="TextBox 7"/>
          <p:cNvSpPr txBox="1"/>
          <p:nvPr/>
        </p:nvSpPr>
        <p:spPr>
          <a:xfrm>
            <a:off x="1028700" y="2085975"/>
            <a:ext cx="6477000" cy="2905125"/>
          </a:xfrm>
          <a:prstGeom prst="rect">
            <a:avLst/>
          </a:prstGeom>
          <a:noFill/>
        </p:spPr>
        <p:txBody>
          <a:bodyPr wrap="square"/>
          <a:lstStyle/>
          <a:p>
            <a:pPr>
              <a:spcAft>
                <a:spcPts val="2000"/>
              </a:spcAft>
              <a:defRPr sz="2300">
                <a:solidFill>
                  <a:srgbClr val="2D3E50"/>
                </a:solidFill>
                <a:latin typeface="Yu Gothic"/>
              </a:defRPr>
            </a:pPr>
            <a:r>
              <a:rPr dirty="0"/>
              <a:t>•</a:t>
            </a:r>
            <a:r>
              <a:rPr lang="ja-JP" altLang="en-US" dirty="0"/>
              <a:t>　操作性を考えて</a:t>
            </a:r>
            <a:r>
              <a:rPr lang="en-US" altLang="ja-JP" dirty="0"/>
              <a:t>UI</a:t>
            </a:r>
            <a:r>
              <a:rPr lang="ja-JP" altLang="en-US" dirty="0"/>
              <a:t>になるべくこだわり、機能も必要最低限に抑えれた</a:t>
            </a:r>
            <a:endParaRPr lang="en-US" altLang="ja-JP" dirty="0"/>
          </a:p>
          <a:p>
            <a:pPr>
              <a:spcAft>
                <a:spcPts val="2000"/>
              </a:spcAft>
              <a:defRPr sz="2300">
                <a:solidFill>
                  <a:srgbClr val="2D3E50"/>
                </a:solidFill>
                <a:latin typeface="Yu Gothic"/>
              </a:defRPr>
            </a:pPr>
            <a:r>
              <a:rPr dirty="0"/>
              <a:t>• </a:t>
            </a:r>
            <a:r>
              <a:rPr lang="en-US" altLang="ja-JP" sz="2300" dirty="0"/>
              <a:t>4</a:t>
            </a:r>
            <a:r>
              <a:rPr lang="ja-JP" altLang="en-US" sz="2300" dirty="0"/>
              <a:t>段階の回答で復習日を調整の動作確認と修正に時間がかかり苦労しました</a:t>
            </a:r>
            <a:endParaRPr lang="en-US" altLang="ja-JP" sz="2300" dirty="0"/>
          </a:p>
          <a:p>
            <a:pPr>
              <a:spcAft>
                <a:spcPts val="2000"/>
              </a:spcAft>
              <a:defRPr sz="2300">
                <a:solidFill>
                  <a:srgbClr val="2D3E50"/>
                </a:solidFill>
                <a:latin typeface="Yu Gothic"/>
              </a:defRPr>
            </a:pPr>
            <a:r>
              <a:rPr dirty="0"/>
              <a:t>• </a:t>
            </a:r>
            <a:r>
              <a:rPr lang="en-US" altLang="ja-JP" dirty="0"/>
              <a:t>Excel</a:t>
            </a:r>
            <a:r>
              <a:rPr lang="ja-JP" altLang="en-US" dirty="0"/>
              <a:t>の機能追加に伴い</a:t>
            </a:r>
            <a:r>
              <a:rPr lang="en-US" altLang="ja-JP" dirty="0"/>
              <a:t>Docker</a:t>
            </a:r>
            <a:r>
              <a:rPr lang="ja-JP" altLang="en-US" dirty="0"/>
              <a:t>環境の変更、理解も必要なのだと勉強になりました</a:t>
            </a:r>
            <a:endParaRPr dirty="0"/>
          </a:p>
        </p:txBody>
      </p:sp>
      <p:sp>
        <p:nvSpPr>
          <p:cNvPr id="9" name="Rounded Rectangle 8"/>
          <p:cNvSpPr/>
          <p:nvPr/>
        </p:nvSpPr>
        <p:spPr>
          <a:xfrm>
            <a:off x="7882128" y="2504946"/>
            <a:ext cx="3893312" cy="2392173"/>
          </a:xfrm>
          <a:prstGeom prst="roundRect">
            <a:avLst/>
          </a:prstGeom>
          <a:solidFill>
            <a:srgbClr val="FFFFFF"/>
          </a:solidFill>
          <a:ln>
            <a:solidFill>
              <a:srgbClr val="DEEA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882127" y="2504946"/>
            <a:ext cx="73657" cy="2392173"/>
          </a:xfrm>
          <a:prstGeom prst="rect">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50328" y="2873696"/>
            <a:ext cx="3625112" cy="1641475"/>
          </a:xfrm>
          <a:prstGeom prst="rect">
            <a:avLst/>
          </a:prstGeom>
          <a:noFill/>
        </p:spPr>
        <p:txBody>
          <a:bodyPr wrap="square">
            <a:spAutoFit/>
          </a:bodyPr>
          <a:lstStyle/>
          <a:p>
            <a:r>
              <a:rPr lang="ja-JP" altLang="en-US" sz="2000" b="1" dirty="0">
                <a:solidFill>
                  <a:srgbClr val="1A4376"/>
                </a:solidFill>
                <a:latin typeface="Yu Gothic"/>
              </a:rPr>
              <a:t>反省点</a:t>
            </a:r>
            <a:endParaRPr sz="2000" b="1" dirty="0">
              <a:solidFill>
                <a:srgbClr val="1A4376"/>
              </a:solidFill>
              <a:latin typeface="Yu Gothic"/>
            </a:endParaRPr>
          </a:p>
          <a:p>
            <a:pPr>
              <a:spcBef>
                <a:spcPts val="500"/>
              </a:spcBef>
              <a:defRPr sz="1500">
                <a:solidFill>
                  <a:srgbClr val="697C8F"/>
                </a:solidFill>
                <a:latin typeface="Yu Gothic"/>
              </a:defRPr>
            </a:pPr>
            <a:r>
              <a:rPr lang="ja-JP" altLang="en-US" sz="1600" dirty="0"/>
              <a:t>デザインや機能を途中何度か変えため</a:t>
            </a:r>
            <a:endParaRPr lang="en-US" altLang="ja-JP" sz="1600" dirty="0"/>
          </a:p>
          <a:p>
            <a:pPr>
              <a:spcBef>
                <a:spcPts val="500"/>
              </a:spcBef>
              <a:defRPr sz="1500">
                <a:solidFill>
                  <a:srgbClr val="697C8F"/>
                </a:solidFill>
                <a:latin typeface="Yu Gothic"/>
              </a:defRPr>
            </a:pPr>
            <a:r>
              <a:rPr lang="ja-JP" altLang="en-US" sz="1600" dirty="0"/>
              <a:t>時間と労力を無駄にした</a:t>
            </a:r>
            <a:r>
              <a:rPr sz="1600" dirty="0"/>
              <a:t>。</a:t>
            </a:r>
            <a:endParaRPr lang="en-US" altLang="ja-JP" sz="1600" dirty="0"/>
          </a:p>
          <a:p>
            <a:pPr>
              <a:spcBef>
                <a:spcPts val="500"/>
              </a:spcBef>
              <a:defRPr sz="1500">
                <a:solidFill>
                  <a:srgbClr val="697C8F"/>
                </a:solidFill>
                <a:latin typeface="Yu Gothic"/>
              </a:defRPr>
            </a:pPr>
            <a:r>
              <a:rPr lang="ja-JP" altLang="en-US" sz="1600" dirty="0"/>
              <a:t>設計書の時点でもっとこだわるべき</a:t>
            </a:r>
            <a:endParaRPr lang="en-US" altLang="ja-JP" sz="1600" dirty="0"/>
          </a:p>
          <a:p>
            <a:pPr>
              <a:spcBef>
                <a:spcPts val="500"/>
              </a:spcBef>
              <a:defRPr sz="1500">
                <a:solidFill>
                  <a:srgbClr val="697C8F"/>
                </a:solidFill>
                <a:latin typeface="Yu Gothic"/>
              </a:defRPr>
            </a:pPr>
            <a:r>
              <a:rPr lang="ja-JP" altLang="en-US" sz="1600" dirty="0"/>
              <a:t>だった。</a:t>
            </a:r>
            <a:endParaRPr sz="1600" dirty="0"/>
          </a:p>
        </p:txBody>
      </p:sp>
      <p:sp>
        <p:nvSpPr>
          <p:cNvPr id="15" name="TextBox 14"/>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0125" y="2543175"/>
            <a:ext cx="10191750" cy="1104900"/>
          </a:xfrm>
          <a:prstGeom prst="rect">
            <a:avLst/>
          </a:prstGeom>
          <a:noFill/>
        </p:spPr>
        <p:txBody>
          <a:bodyPr wrap="square"/>
          <a:lstStyle/>
          <a:p>
            <a:pPr algn="ctr"/>
            <a:r>
              <a:rPr sz="4300" b="1">
                <a:solidFill>
                  <a:srgbClr val="1A4376"/>
                </a:solidFill>
                <a:latin typeface="Yu Gothic"/>
              </a:rPr>
              <a:t>質疑応答</a:t>
            </a:r>
          </a:p>
        </p:txBody>
      </p:sp>
      <p:sp>
        <p:nvSpPr>
          <p:cNvPr id="6" name="TextBox 5"/>
          <p:cNvSpPr txBox="1"/>
          <p:nvPr/>
        </p:nvSpPr>
        <p:spPr>
          <a:xfrm>
            <a:off x="1905000" y="3752850"/>
            <a:ext cx="8382000" cy="666750"/>
          </a:xfrm>
          <a:prstGeom prst="rect">
            <a:avLst/>
          </a:prstGeom>
          <a:noFill/>
        </p:spPr>
        <p:txBody>
          <a:bodyPr wrap="none">
            <a:spAutoFit/>
          </a:bodyPr>
          <a:lstStyle/>
          <a:p>
            <a:pPr algn="ctr"/>
            <a:r>
              <a:rPr sz="2200">
                <a:solidFill>
                  <a:srgbClr val="697C8F"/>
                </a:solidFill>
                <a:latin typeface="Yu Gothic"/>
              </a:rPr>
              <a:t>ご質問をお願いします</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12</a:t>
            </a:r>
          </a:p>
        </p:txBody>
      </p:sp>
      <p:sp>
        <p:nvSpPr>
          <p:cNvPr id="15" name="TextBox 14"/>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9FB"/>
        </a:solidFill>
        <a:effectLst/>
      </p:bgPr>
    </p:bg>
    <p:spTree>
      <p:nvGrpSpPr>
        <p:cNvPr id="1" name=""/>
        <p:cNvGrpSpPr/>
        <p:nvPr/>
      </p:nvGrpSpPr>
      <p:grpSpPr>
        <a:xfrm>
          <a:off x="0" y="0"/>
          <a:ext cx="0" cy="0"/>
          <a:chOff x="0" y="0"/>
          <a:chExt cx="0" cy="0"/>
        </a:xfrm>
      </p:grpSpPr>
      <p:sp>
        <p:nvSpPr>
          <p:cNvPr id="2" name="Oval 1"/>
          <p:cNvSpPr/>
          <p:nvPr/>
        </p:nvSpPr>
        <p:spPr>
          <a:xfrm>
            <a:off x="10424160" y="-457200"/>
            <a:ext cx="2286000" cy="2286000"/>
          </a:xfrm>
          <a:prstGeom prst="ellipse">
            <a:avLst/>
          </a:prstGeom>
          <a:solidFill>
            <a:srgbClr val="2EB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5303520"/>
            <a:ext cx="2011680" cy="2011680"/>
          </a:xfrm>
          <a:prstGeom prst="ellipse">
            <a:avLst/>
          </a:prstGeom>
          <a:solidFill>
            <a:srgbClr val="327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5669280"/>
            <a:ext cx="1280160" cy="1280160"/>
          </a:xfrm>
          <a:prstGeom prst="ellipse">
            <a:avLst/>
          </a:prstGeom>
          <a:solidFill>
            <a:srgbClr val="3DB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0125" y="2543175"/>
            <a:ext cx="10191750" cy="1104900"/>
          </a:xfrm>
          <a:prstGeom prst="rect">
            <a:avLst/>
          </a:prstGeom>
          <a:noFill/>
        </p:spPr>
        <p:txBody>
          <a:bodyPr wrap="square"/>
          <a:lstStyle/>
          <a:p>
            <a:pPr algn="ctr"/>
            <a:r>
              <a:rPr sz="4000" b="1">
                <a:solidFill>
                  <a:srgbClr val="1A4376"/>
                </a:solidFill>
                <a:latin typeface="Yu Gothic"/>
              </a:rPr>
              <a:t>ご清聴ありがとうございました</a:t>
            </a:r>
          </a:p>
        </p:txBody>
      </p:sp>
      <p:sp>
        <p:nvSpPr>
          <p:cNvPr id="6" name="TextBox 5"/>
          <p:cNvSpPr txBox="1"/>
          <p:nvPr/>
        </p:nvSpPr>
        <p:spPr>
          <a:xfrm>
            <a:off x="1905000" y="3752850"/>
            <a:ext cx="8382000" cy="666750"/>
          </a:xfrm>
          <a:prstGeom prst="rect">
            <a:avLst/>
          </a:prstGeom>
          <a:noFill/>
        </p:spPr>
        <p:txBody>
          <a:bodyPr wrap="none">
            <a:spAutoFit/>
          </a:bodyPr>
          <a:lstStyle/>
          <a:p>
            <a:pPr algn="ctr"/>
            <a:r>
              <a:rPr sz="2200">
                <a:solidFill>
                  <a:srgbClr val="697C8F"/>
                </a:solidFill>
                <a:latin typeface="Yu Gothic"/>
              </a:rPr>
              <a:t>StudyFlow</a:t>
            </a:r>
          </a:p>
        </p:txBody>
      </p:sp>
      <p:sp>
        <p:nvSpPr>
          <p:cNvPr id="7" name="TextBox 6"/>
          <p:cNvSpPr txBox="1"/>
          <p:nvPr/>
        </p:nvSpPr>
        <p:spPr>
          <a:xfrm>
            <a:off x="11201400" y="457200"/>
            <a:ext cx="411480" cy="320040"/>
          </a:xfrm>
          <a:prstGeom prst="rect">
            <a:avLst/>
          </a:prstGeom>
          <a:noFill/>
        </p:spPr>
        <p:txBody>
          <a:bodyPr wrap="none">
            <a:spAutoFit/>
          </a:bodyPr>
          <a:lstStyle/>
          <a:p>
            <a:pPr algn="r"/>
            <a:r>
              <a:rPr>
                <a:latin typeface="Yu Gothic"/>
              </a:rPr>
              <a:t>13</a:t>
            </a:r>
          </a:p>
        </p:txBody>
      </p:sp>
      <p:sp>
        <p:nvSpPr>
          <p:cNvPr id="15" name="TextBox 14"/>
          <p:cNvSpPr txBox="1"/>
          <p:nvPr/>
        </p:nvSpPr>
        <p:spPr>
          <a:xfrm>
            <a:off x="685800" y="6510528"/>
            <a:ext cx="10789920" cy="201168"/>
          </a:xfrm>
          <a:prstGeom prst="rect">
            <a:avLst/>
          </a:prstGeom>
          <a:noFill/>
        </p:spPr>
        <p:txBody>
          <a:bodyPr wrap="none">
            <a:spAutoFit/>
          </a:bodyPr>
          <a:lstStyle/>
          <a:p>
            <a:r>
              <a:rPr sz="800">
                <a:solidFill>
                  <a:srgbClr val="697C8F"/>
                </a:solidFill>
                <a:latin typeface="Yu Gothic"/>
              </a:rPr>
              <a:t>StudyFlow  |  記憶を、少しずつ確かなものに。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TotalTime>
  <Words>410</Words>
  <Application>Microsoft Office PowerPoint</Application>
  <PresentationFormat>ワイド画面</PresentationFormat>
  <Paragraphs>113</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ＭＳ Ｐゴシック</vt:lpstr>
      <vt:lpstr>Yu Gothic</vt:lpstr>
      <vt:lpstr>Yu 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259003</dc:creator>
  <cp:keywords/>
  <dc:description>generated using python-pptx</dc:description>
  <cp:lastModifiedBy>2025_CS 浦田 拳伍</cp:lastModifiedBy>
  <cp:revision>7</cp:revision>
  <dcterms:created xsi:type="dcterms:W3CDTF">2013-01-27T09:14:16Z</dcterms:created>
  <dcterms:modified xsi:type="dcterms:W3CDTF">2026-09-29T06:50:09Z</dcterms:modified>
  <cp:category/>
</cp:coreProperties>
</file>